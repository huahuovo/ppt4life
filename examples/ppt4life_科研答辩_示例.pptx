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控制精度(%)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Sheet1!$A$2:$A$4</c:f>
              <c:strCache>
                <c:ptCount val="3"/>
                <c:pt idx="0">
                  <c:v>传统方法</c:v>
                </c:pt>
                <c:pt idx="1">
                  <c:v>本方法(仿真)</c:v>
                </c:pt>
                <c:pt idx="2">
                  <c:v>本方法(预实验)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</c:v>
                </c:pt>
                <c:pt idx="1">
                  <c:v>89</c:v>
                </c:pt>
                <c:pt idx="2">
                  <c:v>92</c:v>
                </c:pt>
              </c:numCache>
            </c:numRef>
          </c:val>
        </c:ser>
        <c:dLbls>
          <c:numFmt formatCode="0&quot;%&quot;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微软雅黑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778240" y="-1188720"/>
            <a:ext cx="5120640" cy="5120640"/>
          </a:xfrm>
          <a:prstGeom prst="ellipse">
            <a:avLst/>
          </a:prstGeom>
          <a:solidFill>
            <a:srgbClr val="17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9FC2E6"/>
                </a:solidFill>
                <a:latin typeface="微软雅黑"/>
                <a:ea typeface="微软雅黑"/>
                <a:cs typeface="微软雅黑"/>
              </a:rPr>
              <a:t>青年科学基金项目（B 类）答辩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98755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面向复杂工况的智能感知机理与</a:t>
            </a:r>
          </a:p>
          <a:p>
            <a:pPr algn="l"/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自适应调控方法研究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794760"/>
            <a:ext cx="1828800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5E3F2"/>
                </a:solidFill>
                <a:latin typeface="微软雅黑"/>
                <a:ea typeface="微软雅黑"/>
                <a:cs typeface="微软雅黑"/>
              </a:rPr>
              <a:t>申请人：李 XX ｜ 教授 ｜ 智能科学与技术学院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9FC2E6"/>
                </a:solidFill>
                <a:latin typeface="微软雅黑"/>
                <a:ea typeface="微软雅黑"/>
                <a:cs typeface="微软雅黑"/>
              </a:rPr>
              <a:t>依托单位：XX 大学 · 智能感知与调控国家重点实验室</a:t>
            </a:r>
          </a:p>
          <a:p>
            <a:pPr algn="l"/>
            <a:r>
              <a:rPr sz="1200" b="0">
                <a:solidFill>
                  <a:srgbClr val="9FC2E6"/>
                </a:solidFill>
                <a:latin typeface="微软雅黑"/>
                <a:ea typeface="微软雅黑"/>
                <a:cs typeface="微软雅黑"/>
              </a:rPr>
              <a:t>答辩日期：2026-10-20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汇报框架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围绕“为什么选我 / 为什么做这个方向 / 为什么能做成”组织汇报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07007"/>
            <a:ext cx="1005840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ppt4life · 科研答辩示例（青年科学基金 B 类）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922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2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5318607" cy="8229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82296" cy="8229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874519"/>
            <a:ext cx="40384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个人简介与学术标签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06040"/>
            <a:ext cx="5318607" cy="8229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40080" y="2606040"/>
            <a:ext cx="82296" cy="8229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7889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834640"/>
            <a:ext cx="40384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研究背景与科学问题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66160"/>
            <a:ext cx="5318607" cy="8229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40080" y="3566160"/>
            <a:ext cx="82296" cy="8229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7490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794760"/>
            <a:ext cx="40384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研究内容与创新点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1645920"/>
            <a:ext cx="5318607" cy="8229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233007" y="1645920"/>
            <a:ext cx="82296" cy="8229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07327" y="18288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6007" y="1874519"/>
            <a:ext cx="40384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技术路线与可行性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3007" y="2606040"/>
            <a:ext cx="5318607" cy="8229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233007" y="2606040"/>
            <a:ext cx="82296" cy="8229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07327" y="27889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6007" y="2834640"/>
            <a:ext cx="40384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研究计划与团队平台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3007" y="3566160"/>
            <a:ext cx="5318607" cy="8229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233007" y="3566160"/>
            <a:ext cx="82296" cy="8229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507327" y="37490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6007" y="3794760"/>
            <a:ext cx="40384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预期成果与致谢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01 · 个人简介与学术标签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长期聚焦“智能感知—调控”一条主线，形成完整方法体系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07007"/>
            <a:ext cx="1005840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ppt4life · 科研答辩示例（青年科学基金 B 类）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922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3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72768"/>
            <a:ext cx="10911535" cy="566928"/>
          </a:xfrm>
          <a:prstGeom prst="rect">
            <a:avLst/>
          </a:prstGeom>
          <a:solidFill>
            <a:srgbClr val="D6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1664208"/>
            <a:ext cx="1036289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学术定位：面向复杂工况，研究“感知机理 → 建模 → 自适应调控”的闭环理论与方法。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957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教育与工作经历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19" y="3246120"/>
            <a:ext cx="10698480" cy="27432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1325880" y="3127248"/>
            <a:ext cx="256032" cy="256032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5800" y="2679191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2011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502152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本科 · 自动化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0" y="3127248"/>
            <a:ext cx="256032" cy="256032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74720" y="2679191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2016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502152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博士 · 控制科学</a:t>
            </a:r>
          </a:p>
        </p:txBody>
      </p:sp>
      <p:sp>
        <p:nvSpPr>
          <p:cNvPr id="18" name="Oval 17"/>
          <p:cNvSpPr/>
          <p:nvPr/>
        </p:nvSpPr>
        <p:spPr>
          <a:xfrm>
            <a:off x="6903719" y="3127248"/>
            <a:ext cx="256032" cy="256032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63640" y="2679191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2017–2019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502152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海外联合培养 / 博士后</a:t>
            </a:r>
          </a:p>
        </p:txBody>
      </p:sp>
      <p:sp>
        <p:nvSpPr>
          <p:cNvPr id="21" name="Oval 20"/>
          <p:cNvSpPr/>
          <p:nvPr/>
        </p:nvSpPr>
        <p:spPr>
          <a:xfrm>
            <a:off x="9692639" y="3127248"/>
            <a:ext cx="256032" cy="256032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052559" y="2679191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2020 至今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59" y="3502152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教授 · 博导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480560"/>
            <a:ext cx="5318607" cy="86868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14400" y="4626864"/>
            <a:ext cx="481568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学术兼职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37760"/>
            <a:ext cx="481568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IEEE 高级会员 / 期刊编委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3007" y="4480560"/>
            <a:ext cx="5318607" cy="86868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07327" y="4626864"/>
            <a:ext cx="481568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关键荣誉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7327" y="4937760"/>
            <a:ext cx="481568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国家优青 · 省部级一等奖①项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01 · 代表性成果与学术影响力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以质量与影响力为核心，成果高度集中于一条主线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07007"/>
            <a:ext cx="1005840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ppt4life · 科研答辩示例（青年科学基金 B 类）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922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4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2535859" cy="15087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2535859" cy="7315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1783080"/>
            <a:ext cx="20786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高水平论文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20786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38 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70048"/>
            <a:ext cx="20786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其中一区 21 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1971" y="1600200"/>
            <a:ext cx="2535859" cy="15087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431971" y="1600200"/>
            <a:ext cx="2535859" cy="7315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60571" y="1783080"/>
            <a:ext cx="20786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总被引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0571" y="2057400"/>
            <a:ext cx="20786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2,300+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0571" y="2670048"/>
            <a:ext cx="20786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H-index 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3863" y="1600200"/>
            <a:ext cx="2535859" cy="15087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23863" y="1600200"/>
            <a:ext cx="2535859" cy="7315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52463" y="1783080"/>
            <a:ext cx="20786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授权专利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2463" y="2057400"/>
            <a:ext cx="20786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12 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2463" y="2670048"/>
            <a:ext cx="20786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含 3 项转化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15755" y="1600200"/>
            <a:ext cx="2535859" cy="15087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9015755" y="1600200"/>
            <a:ext cx="2535859" cy="7315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244355" y="1783080"/>
            <a:ext cx="20786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主持项目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4355" y="2057400"/>
            <a:ext cx="20786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 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355" y="2670048"/>
            <a:ext cx="20786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含国自然 2 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337560"/>
            <a:ext cx="10911535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60119" y="3520440"/>
            <a:ext cx="1027145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代表性工作（精选 4 项，突出“贡献”而非罗列）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① 首次揭示 XX 工况下感知信号的非线性漂移机理，为高精度建模提供理论基础（ESI 高被引）。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② 提出 XX 自适应调控方法，在 3 类典型场景将控制精度提升 42%（一区顶刊，被引 480+）。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③ 研制 XX 原型系统并通过第三方检测，进入企业中试（授权专利 3 项，已转化）。</a:t>
            </a:r>
          </a:p>
          <a:p>
            <a:pPr algn="l"/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④ 建立 XX 数据集与开源工具，被 20+ 团队采用（学术影响力与工具贡献）。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02 · 研究背景与科学问题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领域存在“精度—适应—实时”三者难以兼顾的核心矛盾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07007"/>
            <a:ext cx="1005840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ppt4life · 科研答辩示例（青年科学基金 B 类）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922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5 / 12</a:t>
            </a:r>
          </a:p>
        </p:txBody>
      </p:sp>
      <p:sp>
        <p:nvSpPr>
          <p:cNvPr id="8" name="Chevron 7"/>
          <p:cNvSpPr/>
          <p:nvPr/>
        </p:nvSpPr>
        <p:spPr>
          <a:xfrm>
            <a:off x="640080" y="1600200"/>
            <a:ext cx="3484778" cy="1234440"/>
          </a:xfrm>
          <a:prstGeom prst="chevron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领域痛点</a:t>
            </a:r>
          </a:p>
          <a:p>
            <a:r>
              <a:rPr sz="1000" b="0">
                <a:solidFill>
                  <a:srgbClr val="E6EEF8"/>
                </a:solidFill>
                <a:latin typeface="微软雅黑"/>
                <a:ea typeface="微软雅黑"/>
                <a:cs typeface="微软雅黑"/>
              </a:rPr>
              <a:t>复杂工况下感知信号漂移大，现有模型精度不足</a:t>
            </a:r>
          </a:p>
        </p:txBody>
      </p:sp>
      <p:sp>
        <p:nvSpPr>
          <p:cNvPr id="9" name="Chevron 8"/>
          <p:cNvSpPr/>
          <p:nvPr/>
        </p:nvSpPr>
        <p:spPr>
          <a:xfrm>
            <a:off x="4353458" y="1600200"/>
            <a:ext cx="3484778" cy="1234440"/>
          </a:xfrm>
          <a:prstGeom prst="chevron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现有局限</a:t>
            </a:r>
          </a:p>
          <a:p>
            <a:r>
              <a:rPr sz="1000" b="0">
                <a:solidFill>
                  <a:srgbClr val="E6EEF8"/>
                </a:solidFill>
                <a:latin typeface="微软雅黑"/>
                <a:ea typeface="微软雅黑"/>
                <a:cs typeface="微软雅黑"/>
              </a:rPr>
              <a:t>建模依赖强假设、调控参数需人工整定，泛化差</a:t>
            </a:r>
          </a:p>
        </p:txBody>
      </p:sp>
      <p:sp>
        <p:nvSpPr>
          <p:cNvPr id="10" name="Pentagon 9"/>
          <p:cNvSpPr/>
          <p:nvPr/>
        </p:nvSpPr>
        <p:spPr>
          <a:xfrm>
            <a:off x="8066836" y="1600200"/>
            <a:ext cx="3484778" cy="1234440"/>
          </a:xfrm>
          <a:prstGeom prst="homePlat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核心科学问题</a:t>
            </a:r>
          </a:p>
          <a:p>
            <a:r>
              <a:rPr sz="1000" b="0">
                <a:solidFill>
                  <a:srgbClr val="E6EEF8"/>
                </a:solidFill>
                <a:latin typeface="微软雅黑"/>
                <a:ea typeface="微软雅黑"/>
                <a:cs typeface="微软雅黑"/>
              </a:rPr>
              <a:t>如何建立“机理可解释 + 参数自整定”的感知—调控统一框架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08960"/>
            <a:ext cx="10911535" cy="25603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19" y="3291840"/>
            <a:ext cx="10271455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关键科学问题凝练（1–2 个，逻辑递进）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问题一：复杂工况下感知信号的漂移机理与可解释建模。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  为什么重要：决定了模型能否在变工况下保持精度，是调控的前提。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问题二：面向不确定扰动的自适应调控律设计与收敛性保证。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  为什么重要：决定了系统能否自主整定参数、稳定收敛，是落地的关键。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03 · 研究内容与创新点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三项创新点，构成从机理到系统的方法闭环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07007"/>
            <a:ext cx="1005840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ppt4life · 科研答辩示例（青年科学基金 B 类）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922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6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3466490" cy="39319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3466490" cy="914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291785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创新一 · 新机理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95728"/>
            <a:ext cx="291785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揭示复杂工况下感知漂移机理，建立可解释感知模型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886200"/>
            <a:ext cx="2917850" cy="13716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291785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价值：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15968"/>
            <a:ext cx="291785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从“黑箱拟合”转向“机理可解释”，提升变工况泛化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2602" y="1600200"/>
            <a:ext cx="3466490" cy="3931920"/>
          </a:xfrm>
          <a:prstGeom prst="roundRect">
            <a:avLst/>
          </a:prstGeom>
          <a:solidFill>
            <a:srgbClr val="D6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362602" y="1600200"/>
            <a:ext cx="3466490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636922" y="1828800"/>
            <a:ext cx="291785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创新二 · 新方法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922" y="2395728"/>
            <a:ext cx="291785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提出自适应调控律 + 在线参数整定算法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36922" y="3886200"/>
            <a:ext cx="2917850" cy="13716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636922" y="4023360"/>
            <a:ext cx="291785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价值：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922" y="4315968"/>
            <a:ext cx="291785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从“人工整定”转向“自整定”，精度提升 42%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85124" y="1600200"/>
            <a:ext cx="3466490" cy="39319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8085124" y="1600200"/>
            <a:ext cx="3466490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359444" y="1828800"/>
            <a:ext cx="291785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创新三 · 新系统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9444" y="2395728"/>
            <a:ext cx="291785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研制原型系统并完成中试验证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59444" y="3886200"/>
            <a:ext cx="2917850" cy="13716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359444" y="4023360"/>
            <a:ext cx="291785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价值：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9444" y="4315968"/>
            <a:ext cx="291785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从“仿真验证”转向“工程落地”，已进入企业中试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04 · 技术路线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技术路线：机理建模 → 方法设计 → 系统验证，三模块闭环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07007"/>
            <a:ext cx="1005840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ppt4life · 科研答辩示例（青年科学基金 B 类）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922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7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3301898" cy="30175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1810512"/>
            <a:ext cx="278983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模块一 · 感知机理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" y="2286000"/>
            <a:ext cx="2789834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24127" y="2432304"/>
            <a:ext cx="25338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信号采集与处理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53869" y="2852928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3054096"/>
            <a:ext cx="2789834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24127" y="3200400"/>
            <a:ext cx="25338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漂移机理建模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3869" y="3621024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" y="3822191"/>
            <a:ext cx="2789834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24127" y="3968496"/>
            <a:ext cx="25338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可解释模型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87698" y="301752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44898" y="1645920"/>
            <a:ext cx="3301898" cy="3017520"/>
          </a:xfrm>
          <a:prstGeom prst="roundRect">
            <a:avLst/>
          </a:prstGeom>
          <a:solidFill>
            <a:srgbClr val="D6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700930" y="1810512"/>
            <a:ext cx="278983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模块二 · 自适应调控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0930" y="2286000"/>
            <a:ext cx="2789834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828946" y="2432304"/>
            <a:ext cx="25338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调控律设计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58687" y="2852928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0930" y="3054096"/>
            <a:ext cx="2789834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828946" y="3200400"/>
            <a:ext cx="25338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在线参数整定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58687" y="3621024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00930" y="3822191"/>
            <a:ext cx="2789834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828946" y="3968496"/>
            <a:ext cx="25338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收敛性分析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2516" y="301752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49716" y="1645920"/>
            <a:ext cx="3301898" cy="30175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505748" y="1810512"/>
            <a:ext cx="278983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模块三 · 系统与验证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05748" y="2286000"/>
            <a:ext cx="2789834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633764" y="2432304"/>
            <a:ext cx="25338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原型系统研制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63506" y="2852928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05748" y="3054096"/>
            <a:ext cx="2789834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633764" y="3200400"/>
            <a:ext cx="25338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中试场景验证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63506" y="3621024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05748" y="3822191"/>
            <a:ext cx="2789834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633764" y="3968496"/>
            <a:ext cx="25338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指标评测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89204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闭环反馈：模块三的实测数据回流校准模块一/二，形成“建模—调控—验证”迭代。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04 · 研究基础与可行性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前期基础扎实：预实验已验证核心假设，平台条件完备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07007"/>
            <a:ext cx="1005840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ppt4life · 科研答辩示例（青年科学基金 B 类）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922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8 / 12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45920"/>
          <a:ext cx="64008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0" y="1645920"/>
            <a:ext cx="4236415" cy="4023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43800" y="1828800"/>
            <a:ext cx="37334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可行性支撑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预实验：本方法在 3 类场景精度达 92%（见左图），核心假设已验证。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平台：依托国家重点实验室，具备 XX 采集与 XX 测试条件。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数据/方法：已建成 XX 数据集与自研工具，前期论文 38 篇支撑。</a:t>
            </a:r>
          </a:p>
          <a:p>
            <a:pPr algn="l">
              <a:spcAft>
                <a:spcPts val="1200"/>
              </a:spcAft>
            </a:pPr>
            <a:r>
              <a:rPr sz="11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团队：教授 2 + 副高 3 + 博士 6，分工明确、合作基础深厚。</a:t>
            </a:r>
          </a:p>
          <a:p>
            <a:pPr algn="l"/>
            <a:r>
              <a:rPr sz="900" b="0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数据来源：课题组预实验（2025.09–2026.06）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05 · 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三年计划：分四个阶段推进，节点与成果可量化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07007"/>
            <a:ext cx="1005840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ppt4life · 科研答辩示例（青年科学基金 B 类）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922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9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39" y="1371600"/>
            <a:ext cx="2466746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749039" y="1426464"/>
            <a:ext cx="24667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1 年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88938" y="1371600"/>
            <a:ext cx="2466746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88938" y="1426464"/>
            <a:ext cx="24667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2 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8836" y="1371600"/>
            <a:ext cx="2466746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828836" y="1426464"/>
            <a:ext cx="24667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3 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0574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机理建模与可解释感知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39" y="1965960"/>
            <a:ext cx="7619695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3749039" y="2039112"/>
            <a:ext cx="3555857" cy="420624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0080" y="29718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自适应调控律设计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39" y="2880360"/>
            <a:ext cx="7619695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5780958" y="2953512"/>
            <a:ext cx="5079796" cy="420624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0080" y="38862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原型系统研制与中试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39" y="3794760"/>
            <a:ext cx="7619695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8320857" y="3867912"/>
            <a:ext cx="4825806" cy="420624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0080" y="48006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数据集/工具与论文产出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49039" y="4709160"/>
            <a:ext cx="7619695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5018989" y="4782312"/>
            <a:ext cx="6349746" cy="420624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0080" y="580644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里程碑：第 2 年末完成系统原型与中试指标；第 3 年完成论文/专利与成果鉴定。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05 · 团队与平台支撑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团队梯队完整、平台国家级，保障方案落地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07007"/>
            <a:ext cx="1005840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ppt4life · 科研答辩示例（青年科学基金 B 类）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922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10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2556433" cy="13716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209923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教授 / 博导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76272"/>
            <a:ext cx="209923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2 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5113" y="1645920"/>
            <a:ext cx="2556433" cy="13716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653713" y="1828800"/>
            <a:ext cx="209923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副教授 / 副高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3713" y="2176272"/>
            <a:ext cx="209923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3 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147" y="1645920"/>
            <a:ext cx="2556433" cy="13716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38747" y="1828800"/>
            <a:ext cx="209923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博士研究生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747" y="2176272"/>
            <a:ext cx="209923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6 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5181" y="1645920"/>
            <a:ext cx="2556433" cy="13716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223781" y="1828800"/>
            <a:ext cx="209923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合作单位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3781" y="2176272"/>
            <a:ext cx="209923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3 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246120"/>
            <a:ext cx="10911535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0119" y="3429000"/>
            <a:ext cx="1027145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平台与支撑条件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· 依托：智能感知与调控国家重点实验室（国家级平台）。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· 设备：XX 采集系统、XX 环境模拟舱、高性能计算集群。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· 合作：与 3 家企业建立中试合作，具备真实场景验证条件。</a:t>
            </a:r>
          </a:p>
          <a:p>
            <a:pPr algn="l"/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· 数据：已积累 XX 类工况样本 10 万+，满足建模与验证需求。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06 · 预期成果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预期形成“理论—方法—系统—人才”四位一体的成果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07007"/>
            <a:ext cx="1005840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ppt4life · 科研答辩示例（青年科学基金 B 类）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922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BBBBBB"/>
                </a:solidFill>
                <a:latin typeface="微软雅黑"/>
                <a:ea typeface="微软雅黑"/>
                <a:cs typeface="微软雅黑"/>
              </a:rPr>
              <a:t>11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2535859" cy="18288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8680" y="1901952"/>
            <a:ext cx="20786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学术论文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20786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8–10 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80360"/>
            <a:ext cx="20786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含一区/Top 期刊 4–5 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1971" y="1691640"/>
            <a:ext cx="2535859" cy="18288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660571" y="1901952"/>
            <a:ext cx="20786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发明专利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0571" y="2240280"/>
            <a:ext cx="20786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4–6 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2880360"/>
            <a:ext cx="20786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含 1–2 项转化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863" y="1691640"/>
            <a:ext cx="2535859" cy="1828800"/>
          </a:xfrm>
          <a:prstGeom prst="roundRect">
            <a:avLst/>
          </a:prstGeom>
          <a:solidFill>
            <a:srgbClr val="D6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52463" y="1901952"/>
            <a:ext cx="20786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原型系统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2463" y="2240280"/>
            <a:ext cx="20786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1 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2463" y="2880360"/>
            <a:ext cx="20786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完成中试并通过检测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15755" y="1691640"/>
            <a:ext cx="2535859" cy="18288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244355" y="1901952"/>
            <a:ext cx="20786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人才培养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4355" y="2240280"/>
            <a:ext cx="20786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博士 3 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4355" y="2880360"/>
            <a:ext cx="20786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硕士 4 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794760"/>
            <a:ext cx="10911535" cy="18288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0119" y="3977639"/>
            <a:ext cx="1027145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科学意义与应用价值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科学：建立复杂工况下“感知—调控”统一框架，推动学科交叉。</a:t>
            </a:r>
          </a:p>
          <a:p>
            <a:pPr algn="l"/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应用：原型系统面向智能制造场景，预期提升产线效率 15%+，具备产业化前景。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感谢评审专家与各位老师！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063240"/>
            <a:ext cx="1828800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9D9EA"/>
                </a:solidFill>
                <a:latin typeface="微软雅黑"/>
                <a:ea typeface="微软雅黑"/>
                <a:cs typeface="微软雅黑"/>
              </a:rPr>
              <a:t>恳请批评指正 · 欢迎提问</a:t>
            </a:r>
          </a:p>
          <a:p>
            <a:pPr algn="l"/>
            <a:r>
              <a:rPr sz="1200" b="0">
                <a:solidFill>
                  <a:srgbClr val="9FC2E6"/>
                </a:solidFill>
                <a:latin typeface="微软雅黑"/>
                <a:ea typeface="微软雅黑"/>
                <a:cs typeface="微软雅黑"/>
              </a:rPr>
              <a:t>申请人：李 XX ｜ XX 大学 · 智能感知与调控国家重点实验室 ｜ 2026-10-20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