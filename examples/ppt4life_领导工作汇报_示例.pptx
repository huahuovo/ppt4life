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实际收入(百万)</c:v>
                </c:pt>
              </c:strCache>
            </c:strRef>
          </c:tx>
          <c:spPr>
            <a:solidFill>
              <a:srgbClr val="1A3A6B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Q4(预)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121</c:v>
                </c:pt>
                <c:pt idx="1">
                  <c:v>147</c:v>
                </c:pt>
                <c:pt idx="2">
                  <c:v>186</c:v>
                </c:pt>
                <c:pt idx="3">
                  <c:v>205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目标收入(百万)</c:v>
                </c:pt>
              </c:strCache>
            </c:strRef>
          </c:tx>
          <c:spPr>
            <a:solidFill>
              <a:srgbClr val="BBBBBB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Q4(预)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120</c:v>
                </c:pt>
                <c:pt idx="1">
                  <c:v>140</c:v>
                </c:pt>
                <c:pt idx="2">
                  <c:v>158</c:v>
                </c:pt>
                <c:pt idx="3">
                  <c:v>190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latin typeface="微软雅黑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49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595360" y="-1097280"/>
            <a:ext cx="4754880" cy="4754880"/>
          </a:xfrm>
          <a:prstGeom prst="ellipse">
            <a:avLst/>
          </a:prstGeom>
          <a:solidFill>
            <a:srgbClr val="244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966960" y="3108960"/>
            <a:ext cx="3291840" cy="3291840"/>
          </a:xfrm>
          <a:prstGeom prst="ellipse">
            <a:avLst/>
          </a:prstGeom>
          <a:solidFill>
            <a:srgbClr val="204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FB6DA"/>
                </a:solidFill>
                <a:latin typeface="微软雅黑"/>
                <a:ea typeface="微软雅黑"/>
                <a:cs typeface="微软雅黑"/>
              </a:rPr>
              <a:t>2026 年 Q3 经营分析汇报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9509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Q3 收入达标 118%：两个增长引擎已验证，</a:t>
            </a:r>
          </a:p>
          <a:p>
            <a:pPr algn="l"/>
            <a:r>
              <a: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建议 Q4 加倍投入并增配销售资源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977639"/>
            <a:ext cx="1828800" cy="45720"/>
          </a:xfrm>
          <a:prstGeom prst="rect">
            <a:avLst/>
          </a:prstGeom>
          <a:solidFill>
            <a:srgbClr val="D49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5DFEF"/>
                </a:solidFill>
                <a:latin typeface="微软雅黑"/>
                <a:ea typeface="微软雅黑"/>
                <a:cs typeface="微软雅黑"/>
              </a:rPr>
              <a:t>汇报人：张明 ｜ 经营分析部</a:t>
            </a:r>
          </a:p>
          <a:p>
            <a:pPr algn="l"/>
            <a:r>
              <a:rPr sz="1200" b="0">
                <a:solidFill>
                  <a:srgbClr val="9FB6DA"/>
                </a:solidFill>
                <a:latin typeface="微软雅黑"/>
                <a:ea typeface="微软雅黑"/>
                <a:cs typeface="微软雅黑"/>
              </a:rPr>
              <a:t>汇报日期：2026-10-15（内部资料）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5C9A"/>
                </a:solidFill>
                <a:latin typeface="微软雅黑"/>
                <a:ea typeface="微软雅黑"/>
                <a:cs typeface="微软雅黑"/>
              </a:rPr>
              <a:t>汇报框架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5457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本报告按“结论 → 证据 → 行动”展开，5 分钟读完核心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07007"/>
            <a:ext cx="1005840" cy="50292"/>
          </a:xfrm>
          <a:prstGeom prst="rect">
            <a:avLst/>
          </a:prstGeom>
          <a:solidFill>
            <a:srgbClr val="D49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ppt4life · 面向公司领导的汇报示例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2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10911535" cy="786384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91440" cy="786384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19" y="1746504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E5C9A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39" y="171907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核心结论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39" y="2057400"/>
            <a:ext cx="5943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一页看懂 Q3 与建议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05456"/>
            <a:ext cx="10911535" cy="786384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40080" y="2505456"/>
            <a:ext cx="91440" cy="786384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19" y="265176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E5C9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39" y="262432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39" y="2962656"/>
            <a:ext cx="5943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收入 / 毛利 / 客户达成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10712"/>
            <a:ext cx="10911535" cy="786384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0080" y="3410712"/>
            <a:ext cx="91440" cy="786384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60119" y="3557016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E5C9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39" y="352958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增长引擎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39" y="3867912"/>
            <a:ext cx="5943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两个已验证的引擎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315968"/>
            <a:ext cx="10911535" cy="786384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40080" y="4315968"/>
            <a:ext cx="91440" cy="786384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0119" y="4462272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E5C9A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39" y="44348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风险与应对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39" y="4773168"/>
            <a:ext cx="5943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RAG 状态与预案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221224"/>
            <a:ext cx="10911535" cy="786384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40080" y="5221224"/>
            <a:ext cx="91440" cy="786384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60119" y="5367528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E5C9A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39" y="534009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下一步与所需支持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39" y="5678424"/>
            <a:ext cx="5943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Q4 计划与决策请求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5C9A"/>
                </a:solidFill>
                <a:latin typeface="微软雅黑"/>
                <a:ea typeface="微软雅黑"/>
                <a:cs typeface="微软雅黑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5457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Q3 收入达标 118%，两个增长引擎已被数据验证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07007"/>
            <a:ext cx="1005840" cy="50292"/>
          </a:xfrm>
          <a:prstGeom prst="rect">
            <a:avLst/>
          </a:prstGeom>
          <a:solidFill>
            <a:srgbClr val="D49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ppt4life · 面向公司领导的汇报示例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3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10911535" cy="658368"/>
          </a:xfrm>
          <a:prstGeom prst="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1719072"/>
            <a:ext cx="103628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3A6B"/>
                </a:solidFill>
                <a:latin typeface="微软雅黑"/>
                <a:ea typeface="微软雅黑"/>
                <a:cs typeface="微软雅黑"/>
              </a:rPr>
              <a:t>一句话结论：Q3 收入超目标 18%，增量全部来自企业续约与新渠道；建议 Q4 对该两条线加倍投入。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10911535" cy="749808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40080" y="2487168"/>
            <a:ext cx="91440" cy="749808"/>
          </a:xfrm>
          <a:prstGeom prst="rect">
            <a:avLst/>
          </a:prstGeom>
          <a:solidFill>
            <a:srgbClr val="2A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19" y="257860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A7D4F"/>
                </a:solidFill>
                <a:latin typeface="微软雅黑"/>
                <a:ea typeface="微软雅黑"/>
                <a:cs typeface="微软雅黑"/>
              </a:rPr>
              <a:t>收入达标 118%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19" y="290779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微软雅黑"/>
                <a:ea typeface="微软雅黑"/>
                <a:cs typeface="微软雅黑"/>
              </a:rPr>
              <a:t>Q3 收入 ¥1.86 亿，超目标 ¥0.28 亿，同比 +32%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28416"/>
            <a:ext cx="10911535" cy="749808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40080" y="3328416"/>
            <a:ext cx="91440" cy="749808"/>
          </a:xfrm>
          <a:prstGeom prst="rect">
            <a:avLst/>
          </a:prstGeom>
          <a:solidFill>
            <a:srgbClr val="2A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0119" y="341985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A7D4F"/>
                </a:solidFill>
                <a:latin typeface="微软雅黑"/>
                <a:ea typeface="微软雅黑"/>
                <a:cs typeface="微软雅黑"/>
              </a:rPr>
              <a:t>毛利 68%（+6pt）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19" y="374904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微软雅黑"/>
                <a:ea typeface="微软雅黑"/>
                <a:cs typeface="微软雅黑"/>
              </a:rPr>
              <a:t>产品结构升级带动，企业客户占比升至 41%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69664"/>
            <a:ext cx="10911535" cy="749808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0080" y="4169664"/>
            <a:ext cx="91440" cy="749808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60119" y="426110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3A6B"/>
                </a:solidFill>
                <a:latin typeface="微软雅黑"/>
                <a:ea typeface="微软雅黑"/>
                <a:cs typeface="微软雅黑"/>
              </a:rPr>
              <a:t>两个增长引擎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19" y="459028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微软雅黑"/>
                <a:ea typeface="微软雅黑"/>
                <a:cs typeface="微软雅黑"/>
              </a:rPr>
              <a:t>企业续约 + 新渠道合计贡献增量 87%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10912"/>
            <a:ext cx="10911535" cy="749808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40080" y="5010912"/>
            <a:ext cx="91440" cy="749808"/>
          </a:xfrm>
          <a:prstGeom prst="rect">
            <a:avLst/>
          </a:prstGeom>
          <a:solidFill>
            <a:srgbClr val="C93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19" y="51023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9363C"/>
                </a:solidFill>
                <a:latin typeface="微软雅黑"/>
                <a:ea typeface="微软雅黑"/>
                <a:cs typeface="微软雅黑"/>
              </a:rPr>
              <a:t>唯一红灯：交付周期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19" y="5431536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微软雅黑"/>
                <a:ea typeface="微软雅黑"/>
                <a:cs typeface="微软雅黑"/>
              </a:rPr>
              <a:t>平均交付 21 天，超目标 6 天，Q4 需扩编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5C9A"/>
                </a:solidFill>
                <a:latin typeface="微软雅黑"/>
                <a:ea typeface="微软雅黑"/>
                <a:cs typeface="微软雅黑"/>
              </a:rPr>
              <a:t>关键指标达成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5457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三项指标超额达成，交付周期是唯一短板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07007"/>
            <a:ext cx="1005840" cy="50292"/>
          </a:xfrm>
          <a:prstGeom prst="rect">
            <a:avLst/>
          </a:prstGeom>
          <a:solidFill>
            <a:srgbClr val="D49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ppt4life · 面向公司领导的汇报示例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4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2522143" cy="173736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2522143" cy="82296"/>
          </a:xfrm>
          <a:prstGeom prst="rect">
            <a:avLst/>
          </a:prstGeom>
          <a:solidFill>
            <a:srgbClr val="2A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20649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收入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03120"/>
            <a:ext cx="206494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¥1.86 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43200"/>
            <a:ext cx="20649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7D4F"/>
                </a:solidFill>
                <a:latin typeface="微软雅黑"/>
                <a:ea typeface="微软雅黑"/>
                <a:cs typeface="微软雅黑"/>
              </a:rPr>
              <a:t>+32% YoY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035808"/>
            <a:ext cx="128016" cy="256032"/>
          </a:xfrm>
          <a:prstGeom prst="roundRect">
            <a:avLst/>
          </a:prstGeom>
          <a:solidFill>
            <a:srgbClr val="2A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69848" y="3017520"/>
            <a:ext cx="206494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A7D4F"/>
                </a:solidFill>
                <a:latin typeface="微软雅黑"/>
                <a:ea typeface="微软雅黑"/>
                <a:cs typeface="微软雅黑"/>
              </a:rPr>
              <a:t>目标 118%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6543" y="1645920"/>
            <a:ext cx="2522143" cy="173736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436543" y="1645920"/>
            <a:ext cx="2522143" cy="82296"/>
          </a:xfrm>
          <a:prstGeom prst="rect">
            <a:avLst/>
          </a:prstGeom>
          <a:solidFill>
            <a:srgbClr val="2A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65143" y="1828800"/>
            <a:ext cx="20649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毛利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5143" y="2103120"/>
            <a:ext cx="206494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68%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5143" y="2743200"/>
            <a:ext cx="20649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7D4F"/>
                </a:solidFill>
                <a:latin typeface="微软雅黑"/>
                <a:ea typeface="微软雅黑"/>
                <a:cs typeface="微软雅黑"/>
              </a:rPr>
              <a:t>+6 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65143" y="3035808"/>
            <a:ext cx="128016" cy="256032"/>
          </a:xfrm>
          <a:prstGeom prst="roundRect">
            <a:avLst/>
          </a:prstGeom>
          <a:solidFill>
            <a:srgbClr val="2A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866311" y="3017520"/>
            <a:ext cx="206494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A7D4F"/>
                </a:solidFill>
                <a:latin typeface="微软雅黑"/>
                <a:ea typeface="微软雅黑"/>
                <a:cs typeface="微软雅黑"/>
              </a:rPr>
              <a:t>目标 +2 pt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1645920"/>
            <a:ext cx="2522143" cy="173736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33007" y="1645920"/>
            <a:ext cx="2522143" cy="82296"/>
          </a:xfrm>
          <a:prstGeom prst="rect">
            <a:avLst/>
          </a:prstGeom>
          <a:solidFill>
            <a:srgbClr val="2A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61607" y="1828800"/>
            <a:ext cx="20649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新客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1607" y="2103120"/>
            <a:ext cx="206494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127 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1607" y="2743200"/>
            <a:ext cx="20649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7D4F"/>
                </a:solidFill>
                <a:latin typeface="微软雅黑"/>
                <a:ea typeface="微软雅黑"/>
                <a:cs typeface="微软雅黑"/>
              </a:rPr>
              <a:t>+41%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61607" y="3035808"/>
            <a:ext cx="128016" cy="256032"/>
          </a:xfrm>
          <a:prstGeom prst="roundRect">
            <a:avLst/>
          </a:prstGeom>
          <a:solidFill>
            <a:srgbClr val="2A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662775" y="3017520"/>
            <a:ext cx="206494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A7D4F"/>
                </a:solidFill>
                <a:latin typeface="微软雅黑"/>
                <a:ea typeface="微软雅黑"/>
                <a:cs typeface="微软雅黑"/>
              </a:rPr>
              <a:t>目标 105%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29471" y="1645920"/>
            <a:ext cx="2522143" cy="173736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9029471" y="1645920"/>
            <a:ext cx="2522143" cy="82296"/>
          </a:xfrm>
          <a:prstGeom prst="rect">
            <a:avLst/>
          </a:prstGeom>
          <a:solidFill>
            <a:srgbClr val="C93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258071" y="1828800"/>
            <a:ext cx="20649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交付周期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8071" y="2103120"/>
            <a:ext cx="206494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21 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8071" y="2743200"/>
            <a:ext cx="20649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363C"/>
                </a:solidFill>
                <a:latin typeface="微软雅黑"/>
                <a:ea typeface="微软雅黑"/>
                <a:cs typeface="微软雅黑"/>
              </a:rPr>
              <a:t>+6 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58071" y="3035808"/>
            <a:ext cx="128016" cy="256032"/>
          </a:xfrm>
          <a:prstGeom prst="roundRect">
            <a:avLst/>
          </a:prstGeom>
          <a:solidFill>
            <a:srgbClr val="C93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459239" y="3017520"/>
            <a:ext cx="206494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363C"/>
                </a:solidFill>
                <a:latin typeface="微软雅黑"/>
                <a:ea typeface="微软雅黑"/>
                <a:cs typeface="微软雅黑"/>
              </a:rPr>
              <a:t>目标 15 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657600"/>
            <a:ext cx="10911535" cy="18288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40080" y="3886200"/>
            <a:ext cx="109115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A3A6B"/>
                </a:solidFill>
                <a:latin typeface="微软雅黑"/>
                <a:ea typeface="微软雅黑"/>
                <a:cs typeface="微软雅黑"/>
              </a:rPr>
              <a:t>解读（So What）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44444"/>
                </a:solidFill>
                <a:latin typeface="微软雅黑"/>
                <a:ea typeface="微软雅黑"/>
                <a:cs typeface="微软雅黑"/>
              </a:rPr>
              <a:t>· 收入与毛利的超额来自“结构升级”而非涨价——企业客户占比 41%（去年同期 26%），验证了续约引擎。</a:t>
            </a:r>
          </a:p>
          <a:p>
            <a:pPr algn="l"/>
            <a:r>
              <a:rPr sz="1300" b="0">
                <a:solidFill>
                  <a:srgbClr val="444444"/>
                </a:solidFill>
                <a:latin typeface="微软雅黑"/>
                <a:ea typeface="微软雅黑"/>
                <a:cs typeface="微软雅黑"/>
              </a:rPr>
              <a:t>· 交付周期拉长是规模上量的副作用，已出现 2 单客户投诉，须在 Q4 前解决，否则会侵蚀续约率。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5C9A"/>
                </a:solidFill>
                <a:latin typeface="微软雅黑"/>
                <a:ea typeface="微软雅黑"/>
                <a:cs typeface="微软雅黑"/>
              </a:rPr>
              <a:t>业绩回顾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5457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收入逐季走高，Q3 首次显著超目标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07007"/>
            <a:ext cx="1005840" cy="50292"/>
          </a:xfrm>
          <a:prstGeom prst="rect">
            <a:avLst/>
          </a:prstGeom>
          <a:solidFill>
            <a:srgbClr val="D49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ppt4life · 面向公司领导的汇报示例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5 / 10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45920"/>
          <a:ext cx="74066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321040" y="1645920"/>
            <a:ext cx="3230575" cy="420624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549640" y="1828800"/>
            <a:ext cx="277337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D4920B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微软雅黑"/>
                <a:ea typeface="微软雅黑"/>
                <a:cs typeface="微软雅黑"/>
              </a:rPr>
              <a:t>· Q3 收入 ¥1.86 亿，超目标 18%。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微软雅黑"/>
                <a:ea typeface="微软雅黑"/>
                <a:cs typeface="微软雅黑"/>
              </a:rPr>
              <a:t>· 缺口主要被企业续约补齐，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微软雅黑"/>
                <a:ea typeface="微软雅黑"/>
                <a:cs typeface="微软雅黑"/>
              </a:rPr>
              <a:t>  新渠道贡献增量第二。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微软雅黑"/>
                <a:ea typeface="微软雅黑"/>
                <a:cs typeface="微软雅黑"/>
              </a:rPr>
              <a:t>· Q4 目标 ¥1.90 亿，按当前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444444"/>
                </a:solidFill>
                <a:latin typeface="微软雅黑"/>
                <a:ea typeface="微软雅黑"/>
                <a:cs typeface="微软雅黑"/>
              </a:rPr>
              <a:t>  势头可达 108%。</a:t>
            </a:r>
          </a:p>
          <a:p>
            <a:pPr algn="l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数据来源：财务系统，截至 2026-10-10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5C9A"/>
                </a:solidFill>
                <a:latin typeface="微软雅黑"/>
                <a:ea typeface="微软雅黑"/>
                <a:cs typeface="微软雅黑"/>
              </a:rPr>
              <a:t>增长引擎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5457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两个增长引擎贡献了 87% 的增量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07007"/>
            <a:ext cx="1005840" cy="50292"/>
          </a:xfrm>
          <a:prstGeom prst="rect">
            <a:avLst/>
          </a:prstGeom>
          <a:solidFill>
            <a:srgbClr val="D49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ppt4life · 面向公司领导的汇报示例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6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486400" cy="420624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19" y="1874519"/>
            <a:ext cx="48463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3A6B"/>
                </a:solidFill>
                <a:latin typeface="微软雅黑"/>
                <a:ea typeface="微软雅黑"/>
                <a:cs typeface="微软雅黑"/>
              </a:rPr>
              <a:t>引擎一：企业客户续约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444444"/>
                </a:solidFill>
                <a:latin typeface="微软雅黑"/>
                <a:ea typeface="微软雅黑"/>
                <a:cs typeface="微软雅黑"/>
              </a:rPr>
              <a:t>续约率 92%（+11pt），企业客户占比升至 41%；单客年均收入 +28%。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A3A6B"/>
                </a:solidFill>
                <a:latin typeface="微软雅黑"/>
                <a:ea typeface="微软雅黑"/>
                <a:cs typeface="微软雅黑"/>
              </a:rPr>
              <a:t>引擎二：新渠道（线上自营）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444444"/>
                </a:solidFill>
                <a:latin typeface="微软雅黑"/>
                <a:ea typeface="微软雅黑"/>
                <a:cs typeface="微软雅黑"/>
              </a:rPr>
              <a:t>新渠道贡献收入 ¥0.42 亿，占增量 34%；获客成本较行业低 22%。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D4920B"/>
                </a:solidFill>
                <a:latin typeface="微软雅黑"/>
                <a:ea typeface="微软雅黑"/>
                <a:cs typeface="微软雅黑"/>
              </a:rPr>
              <a:t>共同点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微软雅黑"/>
                <a:ea typeface="微软雅黑"/>
                <a:cs typeface="微软雅黑"/>
              </a:rPr>
              <a:t>两条线均为“可复制、可预算”的结构性增长，而非一次性项目。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5150815" cy="2011680"/>
          </a:xfrm>
          <a:prstGeom prst="round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675120" y="1874519"/>
            <a:ext cx="46021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5C9A"/>
                </a:solidFill>
                <a:latin typeface="微软雅黑"/>
                <a:ea typeface="微软雅黑"/>
                <a:cs typeface="微软雅黑"/>
              </a:rPr>
              <a:t>企业续约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331720"/>
            <a:ext cx="46021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A3A6B"/>
                </a:solidFill>
                <a:latin typeface="微软雅黑"/>
                <a:ea typeface="微软雅黑"/>
                <a:cs typeface="微软雅黑"/>
              </a:rPr>
              <a:t>53%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154680"/>
            <a:ext cx="46021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占增量比重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840480"/>
            <a:ext cx="5150815" cy="2011680"/>
          </a:xfrm>
          <a:prstGeom prst="roundRect">
            <a:avLst/>
          </a:prstGeom>
          <a:solidFill>
            <a:srgbClr val="FB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675120" y="4069080"/>
            <a:ext cx="46021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D4920B"/>
                </a:solidFill>
                <a:latin typeface="微软雅黑"/>
                <a:ea typeface="微软雅黑"/>
                <a:cs typeface="微软雅黑"/>
              </a:rPr>
              <a:t>新渠道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526280"/>
            <a:ext cx="46021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A3A6B"/>
                </a:solidFill>
                <a:latin typeface="微软雅黑"/>
                <a:ea typeface="微软雅黑"/>
                <a:cs typeface="微软雅黑"/>
              </a:rPr>
              <a:t>34%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5349240"/>
            <a:ext cx="46021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占增量比重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5C9A"/>
                </a:solidFill>
                <a:latin typeface="微软雅黑"/>
                <a:ea typeface="微软雅黑"/>
                <a:cs typeface="微软雅黑"/>
              </a:rPr>
              <a:t>风险与应对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5457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三个风险中，交付周期需在 Q4 前解决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07007"/>
            <a:ext cx="1005840" cy="50292"/>
          </a:xfrm>
          <a:prstGeom prst="rect">
            <a:avLst/>
          </a:prstGeom>
          <a:solidFill>
            <a:srgbClr val="D49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ppt4life · 面向公司领导的汇报示例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7 / 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91640"/>
          <a:ext cx="10881360" cy="2724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05840"/>
                <a:gridCol w="2834640"/>
                <a:gridCol w="3291840"/>
                <a:gridCol w="14630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风险项</a:t>
                      </a:r>
                    </a:p>
                  </a:txBody>
                  <a:tcPr marL="91440" marR="73152" marT="36576" marB="36576" anchor="ctr">
                    <a:solidFill>
                      <a:srgbClr val="1A3A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marL="91440" marR="73152" marT="36576" marB="36576" anchor="ctr">
                    <a:solidFill>
                      <a:srgbClr val="1A3A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影响</a:t>
                      </a:r>
                    </a:p>
                  </a:txBody>
                  <a:tcPr marL="91440" marR="73152" marT="36576" marB="36576" anchor="ctr">
                    <a:solidFill>
                      <a:srgbClr val="1A3A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应对措施</a:t>
                      </a:r>
                    </a:p>
                  </a:txBody>
                  <a:tcPr marL="91440" marR="73152" marT="36576" marB="36576" anchor="ctr">
                    <a:solidFill>
                      <a:srgbClr val="1A3A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负责人</a:t>
                      </a:r>
                    </a:p>
                  </a:txBody>
                  <a:tcPr marL="91440" marR="73152" marT="36576" marB="36576" anchor="ctr">
                    <a:solidFill>
                      <a:srgbClr val="1A3A6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交付周期 21 天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9363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 2 单投诉，或侵蚀续约率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Q4 增编 8 名实施，并行交付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李强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核心供应商单一</a:t>
                      </a:r>
                    </a:p>
                  </a:txBody>
                  <a:tcPr marL="91440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D4920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琥珀</a:t>
                      </a:r>
                    </a:p>
                  </a:txBody>
                  <a:tcPr marL="91440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断供将影响 30% 收入</a:t>
                      </a:r>
                    </a:p>
                  </a:txBody>
                  <a:tcPr marL="91440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Q4 引入第二供应商</a:t>
                      </a:r>
                    </a:p>
                  </a:txBody>
                  <a:tcPr marL="91440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王芳</a:t>
                      </a:r>
                    </a:p>
                  </a:txBody>
                  <a:tcPr marL="91440" marR="73152" marT="36576" marB="36576" anchor="ctr">
                    <a:solidFill>
                      <a:srgbClr val="F4F6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新渠道毛利偏低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D4920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琥珀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拉低整体毛利 2pt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提高高毛利 SKU 占比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张明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人才流失</a:t>
                      </a:r>
                    </a:p>
                  </a:txBody>
                  <a:tcPr marL="91440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A7D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绿</a:t>
                      </a:r>
                    </a:p>
                  </a:txBody>
                  <a:tcPr marL="91440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暂无显著影响</a:t>
                      </a:r>
                    </a:p>
                  </a:txBody>
                  <a:tcPr marL="91440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关键岗位保留计划</a:t>
                      </a:r>
                    </a:p>
                  </a:txBody>
                  <a:tcPr marL="91440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HR</a:t>
                      </a:r>
                    </a:p>
                  </a:txBody>
                  <a:tcPr marL="91440" marR="73152" marT="36576" marB="36576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5C9A"/>
                </a:solidFill>
                <a:latin typeface="微软雅黑"/>
                <a:ea typeface="微软雅黑"/>
                <a:cs typeface="微软雅黑"/>
              </a:rPr>
              <a:t>方案对比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5457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三套 Q4 投入方案中，推荐“方案 B：聚焦双引擎”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07007"/>
            <a:ext cx="1005840" cy="50292"/>
          </a:xfrm>
          <a:prstGeom prst="rect">
            <a:avLst/>
          </a:prstGeom>
          <a:solidFill>
            <a:srgbClr val="D49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ppt4life · 面向公司领导的汇报示例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8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423818" cy="406908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28751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方案 A｜全面铺开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投入 ¥2,000 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微软雅黑"/>
                <a:ea typeface="微软雅黑"/>
                <a:cs typeface="微软雅黑"/>
              </a:rPr>
              <a:t>· 覆盖 5 条线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微软雅黑"/>
                <a:ea typeface="微软雅黑"/>
                <a:cs typeface="微软雅黑"/>
              </a:rPr>
              <a:t>· 见效慢、分散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微软雅黑"/>
                <a:ea typeface="微软雅黑"/>
                <a:cs typeface="微软雅黑"/>
              </a:rPr>
              <a:t>· 预期 +18%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12080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备选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3938" y="1691640"/>
            <a:ext cx="3423818" cy="4069080"/>
          </a:xfrm>
          <a:prstGeom prst="round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83938" y="1691640"/>
            <a:ext cx="3423818" cy="109728"/>
          </a:xfrm>
          <a:prstGeom prst="rect">
            <a:avLst/>
          </a:prstGeom>
          <a:solidFill>
            <a:srgbClr val="D49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58258" y="1920240"/>
            <a:ext cx="28751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3A6B"/>
                </a:solidFill>
                <a:latin typeface="微软雅黑"/>
                <a:ea typeface="微软雅黑"/>
                <a:cs typeface="微软雅黑"/>
              </a:rPr>
              <a:t>方案 B｜聚焦双引擎 ★推荐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8258" y="2697480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投入 ¥1,200 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8258" y="3291840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微软雅黑"/>
                <a:ea typeface="微软雅黑"/>
                <a:cs typeface="微软雅黑"/>
              </a:rPr>
              <a:t>· 企业续约+新渠道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8258" y="3749039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微软雅黑"/>
                <a:ea typeface="微软雅黑"/>
                <a:cs typeface="微软雅黑"/>
              </a:rPr>
              <a:t>· 复用已验证路径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8258" y="4206240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微软雅黑"/>
                <a:ea typeface="微软雅黑"/>
                <a:cs typeface="微软雅黑"/>
              </a:rPr>
              <a:t>· 预期 +26%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8258" y="5212080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7D4F"/>
                </a:solidFill>
                <a:latin typeface="微软雅黑"/>
                <a:ea typeface="微软雅黑"/>
                <a:cs typeface="微软雅黑"/>
              </a:rPr>
              <a:t>建议采纳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7796" y="1691640"/>
            <a:ext cx="3423818" cy="406908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02116" y="1920240"/>
            <a:ext cx="28751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方案 C｜保守维持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2116" y="2697480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投入 ¥600 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2116" y="3291840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微软雅黑"/>
                <a:ea typeface="微软雅黑"/>
                <a:cs typeface="微软雅黑"/>
              </a:rPr>
              <a:t>· 仅维持现状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2116" y="3749039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微软雅黑"/>
                <a:ea typeface="微软雅黑"/>
                <a:cs typeface="微软雅黑"/>
              </a:rPr>
              <a:t>· 未解决交付短板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2116" y="4206240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微软雅黑"/>
                <a:ea typeface="微软雅黑"/>
                <a:cs typeface="微软雅黑"/>
              </a:rPr>
              <a:t>· 预期 +9%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2116" y="5212080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备选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5C9A"/>
                </a:solidFill>
                <a:latin typeface="微软雅黑"/>
                <a:ea typeface="微软雅黑"/>
                <a:cs typeface="微软雅黑"/>
              </a:rPr>
              <a:t>下一步与所需支持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5457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Q4 按三步走，需批准两项资源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07007"/>
            <a:ext cx="1005840" cy="50292"/>
          </a:xfrm>
          <a:prstGeom prst="rect">
            <a:avLst/>
          </a:prstGeom>
          <a:solidFill>
            <a:srgbClr val="D49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ppt4life · 面向公司领导的汇报示例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9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2590723" cy="1554480"/>
          </a:xfrm>
          <a:prstGeom prst="round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21335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213352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 B 立项
预算下达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5083" y="233172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3683" y="1737360"/>
            <a:ext cx="2590723" cy="155448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642283" y="1874519"/>
            <a:ext cx="21335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3A6B"/>
                </a:solidFill>
                <a:latin typeface="微软雅黑"/>
                <a:ea typeface="微软雅黑"/>
                <a:cs typeface="微软雅黑"/>
              </a:rPr>
              <a:t>11 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2331720"/>
            <a:ext cx="213352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微软雅黑"/>
                <a:ea typeface="微软雅黑"/>
                <a:cs typeface="微软雅黑"/>
              </a:rPr>
              <a:t>交付扩编 8 人
上线并行交付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8687" y="233172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1737360"/>
            <a:ext cx="2590723" cy="155448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15887" y="1874519"/>
            <a:ext cx="21335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3A6B"/>
                </a:solidFill>
                <a:latin typeface="微软雅黑"/>
                <a:ea typeface="微软雅黑"/>
                <a:cs typeface="微软雅黑"/>
              </a:rPr>
              <a:t>12 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2331720"/>
            <a:ext cx="213352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微软雅黑"/>
                <a:ea typeface="微软雅黑"/>
                <a:cs typeface="微软雅黑"/>
              </a:rPr>
              <a:t>第二供应商
完成切换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291" y="233172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0891" y="1737360"/>
            <a:ext cx="2590723" cy="155448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491" y="1874519"/>
            <a:ext cx="21335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3A6B"/>
                </a:solidFill>
                <a:latin typeface="微软雅黑"/>
                <a:ea typeface="微软雅黑"/>
                <a:cs typeface="微软雅黑"/>
              </a:rPr>
              <a:t>1 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491" y="2331720"/>
            <a:ext cx="213352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微软雅黑"/>
                <a:ea typeface="微软雅黑"/>
                <a:cs typeface="微软雅黑"/>
              </a:rPr>
              <a:t>复盘并沉淀
SOP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611880"/>
            <a:ext cx="10911535" cy="18288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0080" y="38404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D4920B"/>
                </a:solidFill>
                <a:latin typeface="微软雅黑"/>
                <a:ea typeface="微软雅黑"/>
                <a:cs typeface="微软雅黑"/>
              </a:rPr>
              <a:t>需要领导决策 / 支持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297680"/>
            <a:ext cx="10911535" cy="566928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14400" y="4434840"/>
            <a:ext cx="7315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① 批准预算 ¥1,200 万（方案 B）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08415" y="4434840"/>
            <a:ext cx="2468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C9363C"/>
                </a:solidFill>
                <a:latin typeface="微软雅黑"/>
                <a:ea typeface="微软雅黑"/>
                <a:cs typeface="微软雅黑"/>
              </a:rPr>
              <a:t>10 月 25 日前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956048"/>
            <a:ext cx="10911535" cy="566928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4400" y="5093208"/>
            <a:ext cx="7315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② 批准实施团队扩编 8 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08415" y="5093208"/>
            <a:ext cx="2468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C9363C"/>
                </a:solidFill>
                <a:latin typeface="微软雅黑"/>
                <a:ea typeface="微软雅黑"/>
                <a:cs typeface="微软雅黑"/>
              </a:rPr>
              <a:t>11 月 1 日前到岗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614416"/>
            <a:ext cx="10911535" cy="566928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14400" y="5751576"/>
            <a:ext cx="7315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③ 授权引入第二供应商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08415" y="5751576"/>
            <a:ext cx="2468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C9363C"/>
                </a:solidFill>
                <a:latin typeface="微软雅黑"/>
                <a:ea typeface="微软雅黑"/>
                <a:cs typeface="微软雅黑"/>
              </a:rPr>
              <a:t>由采购部协同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49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FB6DA"/>
                </a:solidFill>
                <a:latin typeface="微软雅黑"/>
                <a:ea typeface="微软雅黑"/>
                <a:cs typeface="微软雅黑"/>
              </a:rPr>
              <a:t>一页总结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个引擎已验证 · 3 项指标超额 · 1 个短板待补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3200400" cy="1371600"/>
          </a:xfrm>
          <a:prstGeom prst="roundRect">
            <a:avLst/>
          </a:prstGeom>
          <a:solidFill>
            <a:srgbClr val="244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+26%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5204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D8EE"/>
                </a:solidFill>
                <a:latin typeface="微软雅黑"/>
                <a:ea typeface="微软雅黑"/>
                <a:cs typeface="微软雅黑"/>
              </a:rPr>
              <a:t>Q4 预期增速（方案 B）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743200"/>
            <a:ext cx="3200400" cy="1371600"/>
          </a:xfrm>
          <a:prstGeom prst="roundRect">
            <a:avLst/>
          </a:prstGeom>
          <a:solidFill>
            <a:srgbClr val="244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17720" y="29260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¥1,200 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5204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D8EE"/>
                </a:solidFill>
                <a:latin typeface="微软雅黑"/>
                <a:ea typeface="微软雅黑"/>
                <a:cs typeface="微软雅黑"/>
              </a:rPr>
              <a:t>申请预算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743200"/>
            <a:ext cx="3200400" cy="1371600"/>
          </a:xfrm>
          <a:prstGeom prst="roundRect">
            <a:avLst/>
          </a:prstGeom>
          <a:solidFill>
            <a:srgbClr val="244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0" y="29260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5204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D8EE"/>
                </a:solidFill>
                <a:latin typeface="微软雅黑"/>
                <a:ea typeface="微软雅黑"/>
                <a:cs typeface="微软雅黑"/>
              </a:rPr>
              <a:t>待批准资源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恳请各位领导指导，谢谢！</a:t>
            </a:r>
          </a:p>
          <a:p>
            <a:pPr algn="l"/>
            <a:r>
              <a:rPr sz="1200" b="0">
                <a:solidFill>
                  <a:srgbClr val="9FB6DA"/>
                </a:solidFill>
                <a:latin typeface="微软雅黑"/>
                <a:ea typeface="微软雅黑"/>
                <a:cs typeface="微软雅黑"/>
              </a:rPr>
              <a:t>汇报人：张明 ｜ 经营分析部 ｜ 2026-10-15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